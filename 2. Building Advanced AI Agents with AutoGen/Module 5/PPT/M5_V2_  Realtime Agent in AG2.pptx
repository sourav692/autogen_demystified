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Inter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747775"/>
          </p15:clr>
        </p15:guide>
        <p15:guide id="2" pos="247">
          <p15:clr>
            <a:srgbClr val="747775"/>
          </p15:clr>
        </p15:guide>
        <p15:guide id="3" pos="5074">
          <p15:clr>
            <a:srgbClr val="747775"/>
          </p15:clr>
        </p15:guide>
        <p15:guide id="4" pos="5544">
          <p15:clr>
            <a:srgbClr val="747775"/>
          </p15:clr>
        </p15:guide>
        <p15:guide id="5" orient="horz" pos="21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47"/>
        <p:guide pos="5074"/>
        <p:guide pos="5544"/>
        <p:guide pos="21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bold.fntdata"/><Relationship Id="rId10" Type="http://schemas.openxmlformats.org/officeDocument/2006/relationships/font" Target="fonts/Inter-regular.fntdata"/><Relationship Id="rId13" Type="http://schemas.openxmlformats.org/officeDocument/2006/relationships/font" Target="fonts/Inter-boldItalic.fntdata"/><Relationship Id="rId12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2e8b7f1f1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" name="Google Shape;14;g32e8b7f1f1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</a:rPr>
              <a:t>Hi and welcome back! In this video, we will create a sequential chat agentic system with a tool in AutoGen studio. For simplicity, we will be using the same problem statement that we used in Module 2. I will repeat the problem statement again. YOu can pause the video and read the problem statement.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2ec6b1c8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Google Shape;23;g32ec6b1c8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</a:rPr>
              <a:t>Hi and welcome back! In this video, we will create a sequential chat agentic system with a tool in AutoGen studio. For simplicity, we will be using the same problem statement that we used in Module 2. I will repeat the problem statement again. YOu can pause the video and read the problem statement.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2acf65851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2acf65851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RealtimeAgent is designed to handle real-time conversational AI tasks by connecting with live APIs, databases, or web services. This feature allows agents to manage time-sensitive queries, ensuring prompt responses and relevance in rapidly changing scenarios. Whether it's real-time voice interaction or dynamic text inputs, RealtimeAgent makes your agentic systems smarter and more responsive.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2df943e8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32df943e8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First is Image Captioning. It </a:t>
            </a:r>
            <a:r>
              <a:rPr lang="en">
                <a:solidFill>
                  <a:schemeClr val="dk1"/>
                </a:solidFill>
              </a:rPr>
              <a:t>describing what’s happening in a photo.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0" name="Google Shape;10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31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051501" y="4690220"/>
            <a:ext cx="753175" cy="2169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/>
        </p:nvSpPr>
        <p:spPr>
          <a:xfrm>
            <a:off x="311700" y="2200550"/>
            <a:ext cx="5851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AutoGen Studio Practical Example</a:t>
            </a:r>
            <a:endParaRPr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314689" y="3939725"/>
            <a:ext cx="625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Apoorv Vishnoi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Head of Training, Analytics Vidhya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2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/>
        </p:nvSpPr>
        <p:spPr>
          <a:xfrm>
            <a:off x="311700" y="2200550"/>
            <a:ext cx="5851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Introduction to </a:t>
            </a:r>
            <a:r>
              <a:rPr lang="en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AutoGen Studio </a:t>
            </a:r>
            <a:endParaRPr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314689" y="3939725"/>
            <a:ext cx="625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Apoorv Vishnoi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Head of Training, Analytics Vidhya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0" y="67825"/>
            <a:ext cx="9123600" cy="897600"/>
          </a:xfrm>
          <a:prstGeom prst="rect">
            <a:avLst/>
          </a:prstGeom>
          <a:solidFill>
            <a:srgbClr val="2725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264052" y="195800"/>
            <a:ext cx="79953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Installing AutoGen</a:t>
            </a:r>
            <a:endParaRPr b="1"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" name="Google Shape;36;p6"/>
          <p:cNvSpPr txBox="1"/>
          <p:nvPr/>
        </p:nvSpPr>
        <p:spPr>
          <a:xfrm>
            <a:off x="264050" y="957800"/>
            <a:ext cx="83673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AutoNum type="arabicPeriod"/>
            </a:pPr>
            <a:r>
              <a:rPr lang="en" sz="1700">
                <a:solidFill>
                  <a:srgbClr val="F9C823"/>
                </a:solidFill>
                <a:latin typeface="Inter"/>
                <a:ea typeface="Inter"/>
                <a:cs typeface="Inter"/>
                <a:sym typeface="Inter"/>
              </a:rPr>
              <a:t>Role:</a:t>
            </a: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You are the Learning &amp; Development (L&amp;D) Head.</a:t>
            </a:r>
            <a:b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AutoNum type="arabicPeriod"/>
            </a:pPr>
            <a:r>
              <a:rPr lang="en" sz="1700">
                <a:solidFill>
                  <a:srgbClr val="85D992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Create a system to generate a newsletter for emplo</a:t>
            </a: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yees.</a:t>
            </a:r>
            <a:b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AutoNum type="arabicPeriod"/>
            </a:pPr>
            <a:r>
              <a:rPr lang="en" sz="1700">
                <a:solidFill>
                  <a:srgbClr val="F9C823"/>
                </a:solidFill>
                <a:latin typeface="Inter"/>
                <a:ea typeface="Inter"/>
                <a:cs typeface="Inter"/>
                <a:sym typeface="Inter"/>
              </a:rPr>
              <a:t>Focus:</a:t>
            </a: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Latest advancements in AI Agents and Generative AI.</a:t>
            </a:r>
            <a:b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AutoNum type="arabicPeriod"/>
            </a:pPr>
            <a:r>
              <a:rPr lang="en" sz="1700">
                <a:solidFill>
                  <a:srgbClr val="85D992"/>
                </a:solidFill>
                <a:latin typeface="Inter"/>
                <a:ea typeface="Inter"/>
                <a:cs typeface="Inter"/>
                <a:sym typeface="Inter"/>
              </a:rPr>
              <a:t>Resource:</a:t>
            </a: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Use AV’s blogs for professional insights and updates.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AutoNum type="arabicPeriod"/>
            </a:pPr>
            <a:r>
              <a:rPr lang="en" sz="1700">
                <a:solidFill>
                  <a:srgbClr val="F9C823"/>
                </a:solidFill>
                <a:latin typeface="Inter"/>
                <a:ea typeface="Inter"/>
                <a:cs typeface="Inter"/>
                <a:sym typeface="Inter"/>
              </a:rPr>
              <a:t>System:</a:t>
            </a: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Develop an automated agentic system to: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AutoNum type="alphaLcPeriod"/>
            </a:pP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Query Analytics Vidhya for recent articles and news.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AutoNum type="alphaLcPeriod"/>
            </a:pP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Curate relevant content on AI Agents and Generative AI.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AutoNum type="alphaLcPeriod"/>
            </a:pP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Compile the curated content into a newsletter email.</a:t>
            </a:r>
            <a:b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AutoNum type="arabicPeriod"/>
            </a:pPr>
            <a:r>
              <a:rPr lang="en" sz="1700">
                <a:solidFill>
                  <a:srgbClr val="85D992"/>
                </a:solidFill>
                <a:latin typeface="Inter"/>
                <a:ea typeface="Inter"/>
                <a:cs typeface="Inter"/>
                <a:sym typeface="Inter"/>
              </a:rPr>
              <a:t>Outcome:</a:t>
            </a: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Ensure employees stay informed and aligned with industry advancements, promoting continuous learning.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4725" y="710825"/>
            <a:ext cx="4886325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/>
          <p:nvPr/>
        </p:nvSpPr>
        <p:spPr>
          <a:xfrm>
            <a:off x="6407325" y="793575"/>
            <a:ext cx="284100" cy="264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5001975" y="2043250"/>
            <a:ext cx="1405500" cy="264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/>
          <p:cNvSpPr/>
          <p:nvPr/>
        </p:nvSpPr>
        <p:spPr>
          <a:xfrm>
            <a:off x="5001975" y="3567250"/>
            <a:ext cx="1596900" cy="264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22667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